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📣  Stratégie Marketing Digital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Segments Cibles (B2B)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🏛️  Universités publiques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4630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120+ établissements au Maroc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🏫  Communes &amp; collectivités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8470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1538 communes — budget infrastructure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🏗️  Entreprises BTP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2311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Grands groupes : Bouygues, Alliances...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🏥  Hôpitaux &amp; bâtiments publics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Forte obligation sécuritaire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960120"/>
            <a:ext cx="41148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960120"/>
            <a:ext cx="411480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987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📡  Canaux d'Acquisition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005840"/>
            <a:ext cx="54864" cy="2057400"/>
          </a:xfrm>
          <a:prstGeom prst="rect">
            <a:avLst/>
          </a:prstGeom>
          <a:solidFill>
            <a:srgbClr val="CBD5E1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800600" y="1463040"/>
            <a:ext cx="3566160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0600" y="1463040"/>
            <a:ext cx="54864" cy="32918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490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💼  LinkedIn B2B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14904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Ciblage décideurs publics directs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54864" cy="2057400"/>
          </a:xfrm>
          <a:prstGeom prst="rect">
            <a:avLst/>
          </a:prstGeom>
          <a:solidFill>
            <a:srgbClr val="CBD5E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1847088"/>
            <a:ext cx="3566160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1847088"/>
            <a:ext cx="54864" cy="3291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🎓  Réseau universitaire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1874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Partenariat MESRSFC — déploiement UMP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005840"/>
            <a:ext cx="54864" cy="2057400"/>
          </a:xfrm>
          <a:prstGeom prst="rect">
            <a:avLst/>
          </a:prstGeom>
          <a:solidFill>
            <a:srgbClr val="CBD5E1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2231136"/>
            <a:ext cx="3566160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2231136"/>
            <a:ext cx="54864" cy="32918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📊  Démo sur site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258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ROI prouvé en 30min — taux conversion élevé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1005840"/>
            <a:ext cx="54864" cy="2057400"/>
          </a:xfrm>
          <a:prstGeom prst="rect">
            <a:avLst/>
          </a:prstGeom>
          <a:solidFill>
            <a:srgbClr val="CBD5E1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00600" y="2615184"/>
            <a:ext cx="3566160" cy="329184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Shape 34"/>
          <p:cNvSpPr/>
          <p:nvPr/>
        </p:nvSpPr>
        <p:spPr>
          <a:xfrm>
            <a:off x="4800600" y="2615184"/>
            <a:ext cx="54864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6426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🏆  Hackathons &amp; prix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2642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Crédibilité + visibilité institutionnelle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200400"/>
            <a:ext cx="4160520" cy="16916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200400"/>
            <a:ext cx="4160520" cy="38404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22783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🔄  Funnel de Conversion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1480" y="3675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Sensibilisation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783080" y="3721608"/>
            <a:ext cx="2286000" cy="1828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4" name="Shape 42"/>
          <p:cNvSpPr/>
          <p:nvPr/>
        </p:nvSpPr>
        <p:spPr>
          <a:xfrm>
            <a:off x="1783080" y="3721608"/>
            <a:ext cx="228600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1783080" y="3931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Post-séisme Al Haouz → besoin urgent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059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Intérêt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83080" y="4105656"/>
            <a:ext cx="2286000" cy="1828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48" name="Shape 46"/>
          <p:cNvSpPr/>
          <p:nvPr/>
        </p:nvSpPr>
        <p:spPr>
          <a:xfrm>
            <a:off x="1783080" y="4105656"/>
            <a:ext cx="14859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1783080" y="43159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Démo live sur site — ROI immédiat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4443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Décision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783080" y="4489704"/>
            <a:ext cx="2286000" cy="18288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52" name="Shape 50"/>
          <p:cNvSpPr/>
          <p:nvPr/>
        </p:nvSpPr>
        <p:spPr>
          <a:xfrm>
            <a:off x="1783080" y="4489704"/>
            <a:ext cx="685800" cy="182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3" name="Text 51"/>
          <p:cNvSpPr/>
          <p:nvPr/>
        </p:nvSpPr>
        <p:spPr>
          <a:xfrm>
            <a:off x="1783080" y="47000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Abonnement SaaS 500–3000 DH/mois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320040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3200400"/>
            <a:ext cx="411480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6" name="Text 54"/>
          <p:cNvSpPr/>
          <p:nvPr/>
        </p:nvSpPr>
        <p:spPr>
          <a:xfrm>
            <a:off x="4800600" y="32278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📈  KPIs Marketing Cibles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846320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Coût acquisition client (CAC)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949440" y="3675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~0 DH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846320" y="393192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Réseau institutionnel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46320" y="4023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Cycle de vente estimé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949440" y="4023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1–3 mois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846320" y="427939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Décision publique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46320" y="4370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LTV client université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949440" y="4370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18 000 DH/an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846320" y="462686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Abonnement 1 500 DH/mois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46320" y="47183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Marché adressable Maroc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949440" y="4718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&gt;50M DH/an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846320" y="497433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120 univ. + 1538 communes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🏆  Couverture des 5 Critères d'Évaluation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834640" cy="21031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834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" y="978408"/>
            <a:ext cx="411480" cy="411480"/>
          </a:xfrm>
          <a:prstGeom prst="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978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0149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Intelligence Artificielle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Régression polynomiale scikit-learn (R² affiché en direct)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8196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Prédiction déplacement 10 prochaines minutes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762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Classification automatique : Thermique / Mécanique / Mixte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328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Entraînement continu sur données réelles collectées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868680"/>
            <a:ext cx="2834640" cy="21031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68680"/>
            <a:ext cx="283464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Shape 13"/>
          <p:cNvSpPr/>
          <p:nvPr/>
        </p:nvSpPr>
        <p:spPr>
          <a:xfrm>
            <a:off x="3310128" y="978408"/>
            <a:ext cx="411480" cy="411480"/>
          </a:xfrm>
          <a:prstGeom prst="rect">
            <a:avLst>
              <a:gd name="adj" fmla="val 13333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978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10149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</a:rPr>
              <a:t>Innovation Digitale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14630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Architecture IoT : ESP32 → API Django → Dashboard web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18196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Jumeau numérique de l'infrastructure en temps réel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1762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Scatter plot corrélation T°/déplacement interactif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5328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Export PDF automatique avec analyse complète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868680"/>
            <a:ext cx="2834640" cy="21031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868680"/>
            <a:ext cx="28346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281928" y="978408"/>
            <a:ext cx="411480" cy="411480"/>
          </a:xfrm>
          <a:prstGeom prst="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281928" y="978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101498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Marketing Digital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14630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Modèle B2B : universités, communes, entreprises BTP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09360" y="18196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CAC quasi nul via réseau institutionnel et LinkedIn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21762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Marché adressable Maroc : &gt;50M DH/an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25328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Funnel de conversion : sensibilisation → démo → SaaS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3200400"/>
            <a:ext cx="4251960" cy="21031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3200400"/>
            <a:ext cx="42519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" y="3310128"/>
            <a:ext cx="411480" cy="411480"/>
          </a:xfrm>
          <a:prstGeom prst="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FinTech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37947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Modèle SaaS 500 → 3 000 DH/mois selon segment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1513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ROI &gt;2700% calculé dynamiquement sur la plateforme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45079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Économie de 168 000 DH/an pour une université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8646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Ratio Banque Mondiale : 1 DH préventif = 4-5 DH curatif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200400"/>
            <a:ext cx="4251960" cy="2103120"/>
          </a:xfrm>
          <a:prstGeom prst="rect">
            <a:avLst/>
          </a:prstGeom>
          <a:solidFill>
            <a:srgbClr val="1A3A6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200400"/>
            <a:ext cx="425196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4773168" y="3310128"/>
            <a:ext cx="411480" cy="411480"/>
          </a:xfrm>
          <a:prstGeom prst="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3310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Impact Socio-Économique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379476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20 000 étudiants &amp; personnels UMP Oujda protégés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0600" y="41513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RPS 2011 &amp; Eurocode 1 : base réglementaire validée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00600" y="45079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Accessibilité : &lt;200 DH/boîtier pour communes rurales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00600" y="48646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Réduction 70% des budgets de maintenance curative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2026-05-22T11:47:09Z</dcterms:created>
  <dcterms:modified xsi:type="dcterms:W3CDTF">2026-05-22T11:47:09Z</dcterms:modified>
</cp:coreProperties>
</file>